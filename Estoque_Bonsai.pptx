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70" r:id="rId3"/>
    <p:sldId id="351" r:id="rId4"/>
    <p:sldId id="258" r:id="rId5"/>
    <p:sldId id="352" r:id="rId6"/>
    <p:sldId id="354" r:id="rId7"/>
    <p:sldId id="349" r:id="rId8"/>
    <p:sldId id="350" r:id="rId9"/>
    <p:sldId id="355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06" roundtripDataSignature="AMtx7miZINGxohdSI15Xcu5c/inuvMYF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82B242C-9A92-4277-842D-B6B3DD457063}">
  <a:tblStyle styleId="{A82B242C-9A92-4277-842D-B6B3DD45706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A76DA97-062D-4256-B02D-CCDC2C70CBBC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845" autoAdjust="0"/>
    <p:restoredTop sz="94660"/>
  </p:normalViewPr>
  <p:slideViewPr>
    <p:cSldViewPr snapToGrid="0">
      <p:cViewPr varScale="1">
        <p:scale>
          <a:sx n="78" d="100"/>
          <a:sy n="78" d="100"/>
        </p:scale>
        <p:origin x="47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09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08" Type="http://schemas.openxmlformats.org/officeDocument/2006/relationships/viewProps" Target="viewProps.xml"/><Relationship Id="rId2" Type="http://schemas.openxmlformats.org/officeDocument/2006/relationships/slide" Target="slides/slide1.xml"/><Relationship Id="rId107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110" Type="http://schemas.openxmlformats.org/officeDocument/2006/relationships/tableStyles" Target="tableStyles.xml"/><Relationship Id="rId5" Type="http://schemas.openxmlformats.org/officeDocument/2006/relationships/slide" Target="slides/slide4.xml"/><Relationship Id="rId106" Type="http://customschemas.google.com/relationships/presentationmetadata" Target="metadata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811A4D73-89D4-2EFE-FB51-87442DBA6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3E421ACD-6D3E-64B3-983E-451A65B84B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EB2E285F-6061-5901-988C-96E2E22EEC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659236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20718EAB-94C9-F5BF-B467-0934FC422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33E85D5F-A6D6-938B-8163-25F84A2C0D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5E8FEA9B-4E20-B35F-5733-0CB203D124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072616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42D016DF-B1DD-63BB-B53F-2D181659E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80EDC5D7-1584-2465-59E2-C79724BF52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2C037D30-44F9-391E-BCA9-08B8E5C28A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492392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95A1A982-EF9F-DC4A-B1E2-C5FB4169D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2431F801-F567-670F-701F-ED9B29498E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CF09C9AA-58EA-E658-D66B-627B36DEFC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83918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C5F2E183-AA1E-DD00-F48E-345808424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BB04BBDA-BF75-A4C8-5B33-24D89BA13D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7467F638-0C69-7FDA-617F-A2E91D7ADB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727806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29814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6000"/>
              <a:buFont typeface="Calibri"/>
              <a:buNone/>
              <a:defRPr sz="6000" b="1">
                <a:solidFill>
                  <a:srgbClr val="1E4E7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4"/>
          <p:cNvSpPr txBox="1">
            <a:spLocks noGrp="1"/>
          </p:cNvSpPr>
          <p:nvPr>
            <p:ph type="subTitle" idx="1"/>
          </p:nvPr>
        </p:nvSpPr>
        <p:spPr>
          <a:xfrm>
            <a:off x="1524000" y="3832860"/>
            <a:ext cx="9144000" cy="1209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9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22" name="Google Shape;22;p94"/>
          <p:cNvSpPr/>
          <p:nvPr/>
        </p:nvSpPr>
        <p:spPr>
          <a:xfrm>
            <a:off x="2684584" y="5318814"/>
            <a:ext cx="682283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i="0" u="none" strike="noStrike" cap="none" dirty="0">
                <a:solidFill>
                  <a:srgbClr val="4AB0A3"/>
                </a:solidFill>
                <a:latin typeface="Calibri"/>
                <a:cs typeface="Calibri"/>
                <a:sym typeface="Calibri"/>
              </a:rPr>
              <a:t>Coloque aqui seu NOME e Matrícula</a:t>
            </a:r>
            <a:endParaRPr dirty="0"/>
          </a:p>
        </p:txBody>
      </p:sp>
      <p:pic>
        <p:nvPicPr>
          <p:cNvPr id="23" name="Google Shape;23;p9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3900" y="118140"/>
            <a:ext cx="1961949" cy="1632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94" descr="Resultado de imagem para python worl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98545" y="0"/>
            <a:ext cx="1893455" cy="1893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95"/>
          <p:cNvSpPr txBox="1">
            <a:spLocks noGrp="1"/>
          </p:cNvSpPr>
          <p:nvPr>
            <p:ph type="title"/>
          </p:nvPr>
        </p:nvSpPr>
        <p:spPr>
          <a:xfrm>
            <a:off x="465333" y="136525"/>
            <a:ext cx="10515600" cy="990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4400"/>
              <a:buFont typeface="Calibri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95"/>
          <p:cNvSpPr txBox="1">
            <a:spLocks noGrp="1"/>
          </p:cNvSpPr>
          <p:nvPr>
            <p:ph type="body" idx="1"/>
          </p:nvPr>
        </p:nvSpPr>
        <p:spPr>
          <a:xfrm>
            <a:off x="465333" y="1411550"/>
            <a:ext cx="10888467" cy="4765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95"/>
          <p:cNvSpPr txBox="1">
            <a:spLocks noGrp="1"/>
          </p:cNvSpPr>
          <p:nvPr>
            <p:ph type="dt" idx="10"/>
          </p:nvPr>
        </p:nvSpPr>
        <p:spPr>
          <a:xfrm>
            <a:off x="60122" y="6434415"/>
            <a:ext cx="100835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9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9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7"/>
          <p:cNvSpPr txBox="1">
            <a:spLocks noGrp="1"/>
          </p:cNvSpPr>
          <p:nvPr>
            <p:ph type="title"/>
          </p:nvPr>
        </p:nvSpPr>
        <p:spPr>
          <a:xfrm>
            <a:off x="452761" y="136526"/>
            <a:ext cx="10901039" cy="123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9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9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9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9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9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9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9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9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9"/>
          <p:cNvSpPr txBox="1">
            <a:spLocks noGrp="1"/>
          </p:cNvSpPr>
          <p:nvPr>
            <p:ph type="title"/>
          </p:nvPr>
        </p:nvSpPr>
        <p:spPr>
          <a:xfrm>
            <a:off x="452761" y="136526"/>
            <a:ext cx="10901039" cy="123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0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7" name="Google Shape;67;p10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8" name="Google Shape;68;p10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0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5" name="Google Shape;75;p10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0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0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3"/>
          <p:cNvSpPr txBox="1">
            <a:spLocks noGrp="1"/>
          </p:cNvSpPr>
          <p:nvPr>
            <p:ph type="title"/>
          </p:nvPr>
        </p:nvSpPr>
        <p:spPr>
          <a:xfrm>
            <a:off x="452761" y="136526"/>
            <a:ext cx="10901039" cy="123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03"/>
          <p:cNvSpPr txBox="1">
            <a:spLocks noGrp="1"/>
          </p:cNvSpPr>
          <p:nvPr>
            <p:ph type="body" idx="1"/>
          </p:nvPr>
        </p:nvSpPr>
        <p:spPr>
          <a:xfrm rot="5400000">
            <a:off x="3720692" y="-1625561"/>
            <a:ext cx="4534594" cy="11070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0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0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0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0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0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0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0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3"/>
          <p:cNvSpPr txBox="1">
            <a:spLocks noGrp="1"/>
          </p:cNvSpPr>
          <p:nvPr>
            <p:ph type="title"/>
          </p:nvPr>
        </p:nvSpPr>
        <p:spPr>
          <a:xfrm>
            <a:off x="452761" y="136526"/>
            <a:ext cx="10901039" cy="123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4400"/>
              <a:buFont typeface="Calibri"/>
              <a:buNone/>
              <a:defRPr sz="4400" b="1" i="0" u="none" strike="noStrike" cap="none">
                <a:solidFill>
                  <a:srgbClr val="00008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3"/>
          <p:cNvSpPr txBox="1">
            <a:spLocks noGrp="1"/>
          </p:cNvSpPr>
          <p:nvPr>
            <p:ph type="body" idx="1"/>
          </p:nvPr>
        </p:nvSpPr>
        <p:spPr>
          <a:xfrm>
            <a:off x="452761" y="1642369"/>
            <a:ext cx="11070455" cy="4534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9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9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 txBox="1">
            <a:spLocks noGrp="1"/>
          </p:cNvSpPr>
          <p:nvPr>
            <p:ph type="ctrTitle"/>
          </p:nvPr>
        </p:nvSpPr>
        <p:spPr>
          <a:xfrm>
            <a:off x="1879107" y="840993"/>
            <a:ext cx="8558073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6000"/>
              <a:buFont typeface="Calibri"/>
              <a:buNone/>
            </a:pPr>
            <a:r>
              <a:rPr lang="pt-BR" dirty="0"/>
              <a:t>Estoque Bonsai</a:t>
            </a:r>
            <a:endParaRPr dirty="0"/>
          </a:p>
        </p:txBody>
      </p:sp>
      <p:sp>
        <p:nvSpPr>
          <p:cNvPr id="95" name="Google Shape;95;p1"/>
          <p:cNvSpPr txBox="1">
            <a:spLocks noGrp="1"/>
          </p:cNvSpPr>
          <p:nvPr>
            <p:ph type="subTitle" idx="1"/>
          </p:nvPr>
        </p:nvSpPr>
        <p:spPr>
          <a:xfrm>
            <a:off x="1577965" y="3228593"/>
            <a:ext cx="9419208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rPr lang="pt-BR" sz="4000" dirty="0"/>
              <a:t>Sistema de </a:t>
            </a:r>
            <a:r>
              <a:rPr lang="pt-BR" dirty="0"/>
              <a:t>Controle</a:t>
            </a:r>
            <a:r>
              <a:rPr lang="pt-BR" sz="4000" dirty="0"/>
              <a:t> de estoque para loja Alquimia do Bonsai</a:t>
            </a:r>
            <a:endParaRPr sz="40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9FE5B23-E2FC-CC86-D986-CFAC00DC49CB}"/>
              </a:ext>
            </a:extLst>
          </p:cNvPr>
          <p:cNvSpPr txBox="1"/>
          <p:nvPr/>
        </p:nvSpPr>
        <p:spPr>
          <a:xfrm>
            <a:off x="3424989" y="5808460"/>
            <a:ext cx="534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u="sng" dirty="0"/>
              <a:t>Luan De </a:t>
            </a:r>
            <a:r>
              <a:rPr lang="pt-BR" sz="1600" b="1" u="sng" dirty="0" err="1"/>
              <a:t>salles</a:t>
            </a:r>
            <a:r>
              <a:rPr lang="pt-BR" sz="1600" b="1" u="sng" dirty="0"/>
              <a:t> Pinheiro da Costa</a:t>
            </a:r>
            <a:br>
              <a:rPr lang="pt-BR" sz="1600" b="1" u="sng" dirty="0"/>
            </a:br>
            <a:r>
              <a:rPr lang="pt-BR" sz="1600" b="1" u="sng" dirty="0"/>
              <a:t>202204103273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5"/>
          <p:cNvSpPr txBox="1">
            <a:spLocks noGrp="1"/>
          </p:cNvSpPr>
          <p:nvPr>
            <p:ph type="title"/>
          </p:nvPr>
        </p:nvSpPr>
        <p:spPr>
          <a:xfrm>
            <a:off x="250794" y="136525"/>
            <a:ext cx="10730139" cy="990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pt-BR" dirty="0"/>
              <a:t>Objetivo Geral</a:t>
            </a:r>
            <a:endParaRPr dirty="0"/>
          </a:p>
        </p:txBody>
      </p:sp>
      <p:sp>
        <p:nvSpPr>
          <p:cNvPr id="238" name="Google Shape;23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Desen. Rápido de Aplicações em Python</a:t>
            </a:r>
            <a:endParaRPr/>
          </a:p>
        </p:txBody>
      </p:sp>
      <p:sp>
        <p:nvSpPr>
          <p:cNvPr id="239" name="Google Shape;23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</a:t>
            </a:fld>
            <a:endParaRPr/>
          </a:p>
        </p:txBody>
      </p:sp>
      <p:graphicFrame>
        <p:nvGraphicFramePr>
          <p:cNvPr id="241" name="Google Shape;241;p15"/>
          <p:cNvGraphicFramePr/>
          <p:nvPr>
            <p:extLst>
              <p:ext uri="{D42A27DB-BD31-4B8C-83A1-F6EECF244321}">
                <p14:modId xmlns:p14="http://schemas.microsoft.com/office/powerpoint/2010/main" val="1629652233"/>
              </p:ext>
            </p:extLst>
          </p:nvPr>
        </p:nvGraphicFramePr>
        <p:xfrm>
          <a:off x="516387" y="1207804"/>
          <a:ext cx="11159225" cy="5303540"/>
        </p:xfrm>
        <a:graphic>
          <a:graphicData uri="http://schemas.openxmlformats.org/drawingml/2006/table">
            <a:tbl>
              <a:tblPr firstRow="1" bandRow="1">
                <a:noFill/>
                <a:tableStyleId>{FA76DA97-062D-4256-B02D-CCDC2C70CBBC}</a:tableStyleId>
              </a:tblPr>
              <a:tblGrid>
                <a:gridCol w="1627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3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0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800" b="1" u="none" strike="noStrike" cap="none" dirty="0">
                          <a:solidFill>
                            <a:schemeClr val="dk1"/>
                          </a:solidFill>
                        </a:rPr>
                        <a:t>Objetivo</a:t>
                      </a:r>
                      <a:endParaRPr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800" b="0" dirty="0">
                          <a:solidFill>
                            <a:schemeClr val="dk1"/>
                          </a:solidFill>
                        </a:rPr>
                        <a:t>Desenvolver um sistema de controle de estoque, voltado para a loja Alquimia do Bonsai, com o objetivo de organizar e automatizar o gerenciamento de produtos e insumos (como bonsais, vasos, adubos e ferramentas).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7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800" b="1" dirty="0">
                          <a:solidFill>
                            <a:schemeClr val="dk1"/>
                          </a:solidFill>
                        </a:rPr>
                        <a:t>Escopo</a:t>
                      </a:r>
                      <a:endParaRPr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800" b="0" i="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Este software será um Sistema de Controle de Estoque, chamado Estoque Bonsai. Ele será projetado para cadastrar produtos (nome, quantidade e preço). Além disso, os dados são gravados em um banco de dados </a:t>
                      </a:r>
                      <a:r>
                        <a:rPr lang="pt-BR" sz="2800" b="0" i="0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SQLite</a:t>
                      </a:r>
                      <a:r>
                        <a:rPr lang="pt-BR" sz="2800" b="0" i="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para garantir que o estoque fique salvo mesmo após o fechamento do sistema. O sistema atenderá às necessidades básicas de controle de produtos da loja Alquimia do Bonsai, tornando o gerenciamento mais rápido e organizado.</a:t>
                      </a:r>
                      <a:endParaRPr sz="2800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414A2E56-5448-551C-207C-34ABE589C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>
            <a:extLst>
              <a:ext uri="{FF2B5EF4-FFF2-40B4-BE49-F238E27FC236}">
                <a16:creationId xmlns:a16="http://schemas.microsoft.com/office/drawing/2014/main" id="{FF045429-AA6B-CB55-C62E-4C159B34C8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0794" y="136525"/>
            <a:ext cx="10730139" cy="990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4400"/>
              <a:buFont typeface="Calibri"/>
              <a:buNone/>
            </a:pPr>
            <a:r>
              <a:rPr lang="pt-BR" dirty="0"/>
              <a:t>Metodologia RAD</a:t>
            </a:r>
            <a:endParaRPr dirty="0"/>
          </a:p>
        </p:txBody>
      </p:sp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67FF3AFA-5B93-9EE5-AE87-0DDE8400DE9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</a:t>
            </a:fld>
            <a:endParaRPr/>
          </a:p>
        </p:txBody>
      </p:sp>
      <p:sp>
        <p:nvSpPr>
          <p:cNvPr id="108" name="Google Shape;108;p2">
            <a:extLst>
              <a:ext uri="{FF2B5EF4-FFF2-40B4-BE49-F238E27FC236}">
                <a16:creationId xmlns:a16="http://schemas.microsoft.com/office/drawing/2014/main" id="{FB3F625B-7B1A-9191-C7A6-844EF37F6F73}"/>
              </a:ext>
            </a:extLst>
          </p:cNvPr>
          <p:cNvSpPr txBox="1"/>
          <p:nvPr/>
        </p:nvSpPr>
        <p:spPr>
          <a:xfrm>
            <a:off x="250793" y="1243510"/>
            <a:ext cx="11744561" cy="550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pt-BR" sz="3200" dirty="0"/>
              <a:t>A metodologia </a:t>
            </a:r>
            <a:r>
              <a:rPr lang="pt-BR" sz="3200" b="1" dirty="0"/>
              <a:t>RAD (</a:t>
            </a:r>
            <a:r>
              <a:rPr lang="pt-BR" sz="3200" b="1" dirty="0" err="1"/>
              <a:t>Rapid</a:t>
            </a:r>
            <a:r>
              <a:rPr lang="pt-BR" sz="3200" b="1" dirty="0"/>
              <a:t> </a:t>
            </a:r>
            <a:r>
              <a:rPr lang="pt-BR" sz="3200" b="1" dirty="0" err="1"/>
              <a:t>Application</a:t>
            </a:r>
            <a:r>
              <a:rPr lang="pt-BR" sz="3200" b="1" dirty="0"/>
              <a:t> </a:t>
            </a:r>
            <a:r>
              <a:rPr lang="pt-BR" sz="3200" b="1" dirty="0" err="1"/>
              <a:t>Development</a:t>
            </a:r>
            <a:r>
              <a:rPr lang="pt-BR" sz="3200" b="1" dirty="0"/>
              <a:t>)</a:t>
            </a:r>
            <a:r>
              <a:rPr lang="pt-BR" sz="3200" dirty="0"/>
              <a:t> foi utilizada durante o desenvolvimento do sistema </a:t>
            </a:r>
            <a:r>
              <a:rPr lang="pt-BR" sz="3200" b="1" dirty="0"/>
              <a:t>Estoque Bonsai</a:t>
            </a:r>
            <a:r>
              <a:rPr lang="pt-BR" sz="3200" dirty="0"/>
              <a:t> para agilizar o processo de criação e testes.</a:t>
            </a:r>
            <a:br>
              <a:rPr lang="pt-BR" sz="3200" dirty="0"/>
            </a:br>
            <a:r>
              <a:rPr lang="pt-BR" sz="3200" dirty="0"/>
              <a:t>Primeiro foram definidos os requisitos básicos, como o cadastro e controle de produtos.</a:t>
            </a:r>
            <a:br>
              <a:rPr lang="pt-BR" sz="3200" dirty="0"/>
            </a:br>
            <a:r>
              <a:rPr lang="pt-BR" sz="3200" dirty="0"/>
              <a:t>Em seguida, foi feito o protótipo da interface com </a:t>
            </a:r>
            <a:r>
              <a:rPr lang="pt-BR" sz="3200" b="1" dirty="0" err="1"/>
              <a:t>Tkinter</a:t>
            </a:r>
            <a:r>
              <a:rPr lang="pt-BR" sz="3200" dirty="0"/>
              <a:t>, testando e ajustando conforme as necessidades.</a:t>
            </a:r>
            <a:br>
              <a:rPr lang="pt-BR" sz="3200" dirty="0"/>
            </a:br>
            <a:r>
              <a:rPr lang="pt-BR" sz="3200" dirty="0"/>
              <a:t>Depois, o sistema foi conectado ao banco de dados </a:t>
            </a:r>
            <a:r>
              <a:rPr lang="pt-BR" sz="3200" b="1" dirty="0" err="1"/>
              <a:t>SQLite</a:t>
            </a:r>
            <a:r>
              <a:rPr lang="pt-BR" sz="3200" dirty="0"/>
              <a:t> para armazenar as informações de forma permanente.</a:t>
            </a:r>
            <a:br>
              <a:rPr lang="pt-BR" sz="3200" dirty="0"/>
            </a:br>
            <a:r>
              <a:rPr lang="pt-BR" sz="3200" dirty="0"/>
              <a:t>Essa metodologia permitiu desenvolver o sistema rapidamente, com foco na funcionalidade e facilidade de uso.</a:t>
            </a:r>
            <a:endParaRPr sz="1200" dirty="0"/>
          </a:p>
        </p:txBody>
      </p:sp>
    </p:spTree>
    <p:extLst>
      <p:ext uri="{BB962C8B-B14F-4D97-AF65-F5344CB8AC3E}">
        <p14:creationId xmlns:p14="http://schemas.microsoft.com/office/powerpoint/2010/main" val="2940295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 txBox="1">
            <a:spLocks noGrp="1"/>
          </p:cNvSpPr>
          <p:nvPr>
            <p:ph type="title"/>
          </p:nvPr>
        </p:nvSpPr>
        <p:spPr>
          <a:xfrm>
            <a:off x="250794" y="136525"/>
            <a:ext cx="10730139" cy="990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pt-BR" dirty="0"/>
              <a:t>Metodologia RAD</a:t>
            </a:r>
            <a:endParaRPr dirty="0"/>
          </a:p>
        </p:txBody>
      </p:sp>
      <p:sp>
        <p:nvSpPr>
          <p:cNvPr id="116" name="Google Shape;11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4</a:t>
            </a:fld>
            <a:endParaRPr/>
          </a:p>
        </p:txBody>
      </p:sp>
      <p:graphicFrame>
        <p:nvGraphicFramePr>
          <p:cNvPr id="118" name="Google Shape;118;p3"/>
          <p:cNvGraphicFramePr/>
          <p:nvPr>
            <p:extLst>
              <p:ext uri="{D42A27DB-BD31-4B8C-83A1-F6EECF244321}">
                <p14:modId xmlns:p14="http://schemas.microsoft.com/office/powerpoint/2010/main" val="1218889339"/>
              </p:ext>
            </p:extLst>
          </p:nvPr>
        </p:nvGraphicFramePr>
        <p:xfrm>
          <a:off x="250794" y="1243511"/>
          <a:ext cx="11690412" cy="5253542"/>
        </p:xfrm>
        <a:graphic>
          <a:graphicData uri="http://schemas.openxmlformats.org/drawingml/2006/table">
            <a:tbl>
              <a:tblPr>
                <a:noFill/>
                <a:tableStyleId>{A82B242C-9A92-4277-842D-B6B3DD457063}</a:tableStyleId>
              </a:tblPr>
              <a:tblGrid>
                <a:gridCol w="58452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45206">
                  <a:extLst>
                    <a:ext uri="{9D8B030D-6E8A-4147-A177-3AD203B41FA5}">
                      <a16:colId xmlns:a16="http://schemas.microsoft.com/office/drawing/2014/main" val="1971648959"/>
                    </a:ext>
                  </a:extLst>
                </a:gridCol>
              </a:tblGrid>
              <a:tr h="5306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/>
                        <a:t>Fase</a:t>
                      </a:r>
                      <a:endParaRPr lang="pt-BR" dirty="0"/>
                    </a:p>
                  </a:txBody>
                  <a:tcPr anchor="ctr">
                    <a:lnL w="9525" cap="flat" cmpd="sng">
                      <a:solidFill>
                        <a:srgbClr val="DEE2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EE2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Aplicação no projeto Estoque Bonsai</a:t>
                      </a:r>
                      <a:endParaRPr lang="pt-BR"/>
                    </a:p>
                  </a:txBody>
                  <a:tcPr anchor="ctr">
                    <a:lnL w="9525" cap="flat" cmpd="sng">
                      <a:solidFill>
                        <a:srgbClr val="DEE2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EE2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35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1. Fase de planejamento de requisitos</a:t>
                      </a:r>
                      <a:endParaRPr lang="pt-BR"/>
                    </a:p>
                  </a:txBody>
                  <a:tcPr anchor="ctr">
                    <a:lnL w="9525" cap="flat" cmpd="sng">
                      <a:solidFill>
                        <a:srgbClr val="DEE2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Foram definidas as necessidades da loja </a:t>
                      </a:r>
                      <a:r>
                        <a:rPr lang="pt-BR" i="1"/>
                        <a:t>Alquimia do Bonsai</a:t>
                      </a:r>
                      <a:r>
                        <a:rPr lang="pt-BR"/>
                        <a:t>, como cadastrar, editar, remover e visualizar produtos no estoque.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8921329"/>
                  </a:ext>
                </a:extLst>
              </a:tr>
              <a:tr h="9021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/>
                        <a:t>2. Fase de design do usuário</a:t>
                      </a:r>
                      <a:endParaRPr lang="pt-BR" dirty="0"/>
                    </a:p>
                  </a:txBody>
                  <a:tcPr anchor="ctr">
                    <a:lnL w="9525" cap="flat" cmpd="sng">
                      <a:solidFill>
                        <a:srgbClr val="DEE2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Foi criada a interface gráfica com </a:t>
                      </a:r>
                      <a:r>
                        <a:rPr lang="pt-BR" b="1" dirty="0" err="1"/>
                        <a:t>Tkinter</a:t>
                      </a:r>
                      <a:r>
                        <a:rPr lang="pt-BR" dirty="0"/>
                        <a:t>, permitindo visualizar os produtos de forma simples e intuitiva.</a:t>
                      </a:r>
                    </a:p>
                  </a:txBody>
                  <a:tcPr anchor="ctr">
                    <a:lnL w="9525" cap="flat" cmpd="sng">
                      <a:solidFill>
                        <a:srgbClr val="DEE2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35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3. Fase de construção</a:t>
                      </a:r>
                      <a:endParaRPr lang="pt-BR"/>
                    </a:p>
                  </a:txBody>
                  <a:tcPr anchor="ctr">
                    <a:lnL w="9525" cap="flat" cmpd="sng">
                      <a:solidFill>
                        <a:srgbClr val="DEE2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O código foi desenvolvido em </a:t>
                      </a:r>
                      <a:r>
                        <a:rPr lang="pt-BR" b="1"/>
                        <a:t>Python</a:t>
                      </a:r>
                      <a:r>
                        <a:rPr lang="pt-BR"/>
                        <a:t>, com integração ao banco de dados </a:t>
                      </a:r>
                      <a:r>
                        <a:rPr lang="pt-BR" b="1"/>
                        <a:t>SQLite</a:t>
                      </a:r>
                      <a:r>
                        <a:rPr lang="pt-BR"/>
                        <a:t> para salvar as informações permanentemente.</a:t>
                      </a:r>
                    </a:p>
                  </a:txBody>
                  <a:tcPr anchor="ctr">
                    <a:lnL w="9525" cap="flat" cmpd="sng">
                      <a:solidFill>
                        <a:srgbClr val="DEE2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35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4. Fase de transição</a:t>
                      </a:r>
                      <a:endParaRPr lang="pt-BR"/>
                    </a:p>
                  </a:txBody>
                  <a:tcPr anchor="ctr">
                    <a:lnL w="9525" cap="flat" cmpd="sng">
                      <a:solidFill>
                        <a:srgbClr val="DEE2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EE2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O sistema foi testado, ajustado e preparado para uso real na loja, garantindo que as funções de cadastro e controle funcionem corretamente.</a:t>
                      </a:r>
                    </a:p>
                  </a:txBody>
                  <a:tcPr anchor="ctr">
                    <a:lnL w="9525" cap="flat" cmpd="sng">
                      <a:solidFill>
                        <a:srgbClr val="DEE2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EE2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851D81CB-11E2-C006-D516-22B1820DA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>
            <a:extLst>
              <a:ext uri="{FF2B5EF4-FFF2-40B4-BE49-F238E27FC236}">
                <a16:creationId xmlns:a16="http://schemas.microsoft.com/office/drawing/2014/main" id="{9240E3F4-9A3B-BB13-6387-B806A9BF2A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0794" y="136525"/>
            <a:ext cx="10730139" cy="990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4400"/>
              <a:buFont typeface="Calibri"/>
              <a:buNone/>
            </a:pPr>
            <a:r>
              <a:rPr lang="pt-BR" dirty="0"/>
              <a:t>Tecnologia Usadas no desenvolvimento</a:t>
            </a:r>
            <a:endParaRPr dirty="0"/>
          </a:p>
        </p:txBody>
      </p:sp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9C120D90-4761-1D4A-7809-00D0CE81DE4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5</a:t>
            </a:fld>
            <a:endParaRPr/>
          </a:p>
        </p:txBody>
      </p:sp>
      <p:sp>
        <p:nvSpPr>
          <p:cNvPr id="108" name="Google Shape;108;p2">
            <a:extLst>
              <a:ext uri="{FF2B5EF4-FFF2-40B4-BE49-F238E27FC236}">
                <a16:creationId xmlns:a16="http://schemas.microsoft.com/office/drawing/2014/main" id="{391DC9F7-289C-4215-4A2D-6B415E7C2377}"/>
              </a:ext>
            </a:extLst>
          </p:cNvPr>
          <p:cNvSpPr txBox="1"/>
          <p:nvPr/>
        </p:nvSpPr>
        <p:spPr>
          <a:xfrm>
            <a:off x="250793" y="1243510"/>
            <a:ext cx="11744561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pt-BR" sz="3200" b="1" dirty="0"/>
              <a:t>O sistema foi desenvolvido em Python, utilizando a biblioteca </a:t>
            </a:r>
            <a:r>
              <a:rPr lang="pt-BR" sz="3200" b="1" dirty="0" err="1"/>
              <a:t>Tkinter</a:t>
            </a:r>
            <a:r>
              <a:rPr lang="pt-BR" sz="3200" b="1" dirty="0"/>
              <a:t> para criação da interface gráfica.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pt-BR" sz="3200" b="1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pt-BR" sz="3200" b="1" dirty="0"/>
              <a:t>O banco de dados utilizado foi o </a:t>
            </a:r>
            <a:r>
              <a:rPr lang="pt-BR" sz="3200" b="1" dirty="0" err="1"/>
              <a:t>SQLite</a:t>
            </a:r>
            <a:r>
              <a:rPr lang="pt-BR" sz="3200" b="1" dirty="0"/>
              <a:t>, por ser leve, rápido e ideal para aplicações locais.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pt-BR" sz="3200" b="1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pt-BR" sz="3200" b="1" dirty="0"/>
              <a:t>VS </a:t>
            </a:r>
            <a:r>
              <a:rPr lang="pt-BR" sz="3200" b="1" dirty="0" err="1"/>
              <a:t>Code</a:t>
            </a:r>
            <a:r>
              <a:rPr lang="pt-BR" sz="3200" b="1" dirty="0"/>
              <a:t> como ambiente de programação e o GitHub para versionamento do código.</a:t>
            </a:r>
            <a:br>
              <a:rPr lang="pt-BR" sz="3200" b="1" dirty="0"/>
            </a:br>
            <a:endParaRPr lang="pt-BR" sz="32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41666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A90F1B4D-6D65-4A04-6FD6-EE1FADAFB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>
            <a:extLst>
              <a:ext uri="{FF2B5EF4-FFF2-40B4-BE49-F238E27FC236}">
                <a16:creationId xmlns:a16="http://schemas.microsoft.com/office/drawing/2014/main" id="{1154FBBE-EB73-D3D2-724A-1178693701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0794" y="136525"/>
            <a:ext cx="10730139" cy="990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4400"/>
              <a:buFont typeface="Calibri"/>
              <a:buNone/>
            </a:pPr>
            <a:r>
              <a:rPr lang="pt-BR" dirty="0"/>
              <a:t>Requisitos do Sistema</a:t>
            </a:r>
            <a:endParaRPr dirty="0"/>
          </a:p>
        </p:txBody>
      </p:sp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9638B279-DE77-81F5-9299-470E3A2BA49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6</a:t>
            </a:fld>
            <a:endParaRPr/>
          </a:p>
        </p:txBody>
      </p:sp>
      <p:graphicFrame>
        <p:nvGraphicFramePr>
          <p:cNvPr id="7" name="Google Shape;261;p17">
            <a:extLst>
              <a:ext uri="{FF2B5EF4-FFF2-40B4-BE49-F238E27FC236}">
                <a16:creationId xmlns:a16="http://schemas.microsoft.com/office/drawing/2014/main" id="{D540FEA0-02F7-40B6-AA92-4443F23835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7294269"/>
              </p:ext>
            </p:extLst>
          </p:nvPr>
        </p:nvGraphicFramePr>
        <p:xfrm>
          <a:off x="476425" y="1127464"/>
          <a:ext cx="11239150" cy="5332330"/>
        </p:xfrm>
        <a:graphic>
          <a:graphicData uri="http://schemas.openxmlformats.org/drawingml/2006/table">
            <a:tbl>
              <a:tblPr firstRow="1" bandRow="1">
                <a:noFill/>
                <a:tableStyleId>{FA76DA97-062D-4256-B02D-CCDC2C70CBBC}</a:tableStyleId>
              </a:tblPr>
              <a:tblGrid>
                <a:gridCol w="163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9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233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1" dirty="0">
                          <a:solidFill>
                            <a:schemeClr val="dk1"/>
                          </a:solidFill>
                        </a:rPr>
                        <a:t>Requisitos Funcionais</a:t>
                      </a:r>
                      <a:endParaRPr dirty="0"/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400" b="1" dirty="0">
                          <a:solidFill>
                            <a:schemeClr val="tx1"/>
                          </a:solidFill>
                        </a:rPr>
                        <a:t>As atividades de CRUD (</a:t>
                      </a:r>
                      <a:r>
                        <a:rPr lang="pt-BR" sz="2400" b="1" dirty="0" err="1">
                          <a:solidFill>
                            <a:schemeClr val="tx1"/>
                          </a:solidFill>
                        </a:rPr>
                        <a:t>Create</a:t>
                      </a:r>
                      <a:r>
                        <a:rPr lang="pt-BR" sz="2400" b="1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pt-BR" sz="2400" b="1" dirty="0" err="1">
                          <a:solidFill>
                            <a:schemeClr val="tx1"/>
                          </a:solidFill>
                        </a:rPr>
                        <a:t>Read</a:t>
                      </a:r>
                      <a:r>
                        <a:rPr lang="pt-BR" sz="2400" b="1" dirty="0">
                          <a:solidFill>
                            <a:schemeClr val="tx1"/>
                          </a:solidFill>
                        </a:rPr>
                        <a:t>, Update e Delete) devem ser tarefas funcionais;</a:t>
                      </a:r>
                    </a:p>
                    <a:p>
                      <a:r>
                        <a:rPr lang="pt-BR" sz="2400" b="1" dirty="0">
                          <a:solidFill>
                            <a:schemeClr val="tx1"/>
                          </a:solidFill>
                        </a:rPr>
                        <a:t>- O usuário deve ser capaz de cadastrar um produto no sistema;</a:t>
                      </a:r>
                    </a:p>
                    <a:p>
                      <a:r>
                        <a:rPr lang="pt-BR" sz="2400" b="1" dirty="0">
                          <a:solidFill>
                            <a:schemeClr val="tx1"/>
                          </a:solidFill>
                        </a:rPr>
                        <a:t>- O usuário deve ser capaz de visualizar a lista de produtos cadastrados;</a:t>
                      </a:r>
                    </a:p>
                    <a:p>
                      <a:r>
                        <a:rPr lang="pt-BR" sz="2400" b="1" dirty="0">
                          <a:solidFill>
                            <a:schemeClr val="tx1"/>
                          </a:solidFill>
                        </a:rPr>
                        <a:t>- O usuário deve ser capaz de atualizar as informações de um produto;</a:t>
                      </a:r>
                    </a:p>
                    <a:p>
                      <a:r>
                        <a:rPr lang="pt-BR" sz="2400" b="1" dirty="0">
                          <a:solidFill>
                            <a:schemeClr val="tx1"/>
                          </a:solidFill>
                        </a:rPr>
                        <a:t>- O usuário deve ser capaz de excluir um produto do estoque;</a:t>
                      </a:r>
                    </a:p>
                    <a:p>
                      <a:r>
                        <a:rPr lang="pt-BR" sz="2400" b="1" dirty="0">
                          <a:solidFill>
                            <a:schemeClr val="tx1"/>
                          </a:solidFill>
                        </a:rPr>
                        <a:t>- O sistema deve salvar automaticamente as alterações no banco de dados </a:t>
                      </a:r>
                      <a:r>
                        <a:rPr lang="pt-BR" sz="2400" b="1" dirty="0" err="1">
                          <a:solidFill>
                            <a:schemeClr val="tx1"/>
                          </a:solidFill>
                        </a:rPr>
                        <a:t>SQLite</a:t>
                      </a:r>
                      <a:r>
                        <a:rPr lang="pt-BR" sz="2400" b="1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8570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CEC0DBB4-4327-F4BB-106C-BE5D2B169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>
            <a:extLst>
              <a:ext uri="{FF2B5EF4-FFF2-40B4-BE49-F238E27FC236}">
                <a16:creationId xmlns:a16="http://schemas.microsoft.com/office/drawing/2014/main" id="{B11AE224-7288-A5D3-B774-8B191289DA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0794" y="136525"/>
            <a:ext cx="10730139" cy="990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4400"/>
              <a:buFont typeface="Calibri"/>
              <a:buNone/>
            </a:pPr>
            <a:r>
              <a:rPr lang="pt-BR" dirty="0"/>
              <a:t>Apresentação do Sistema</a:t>
            </a:r>
            <a:endParaRPr dirty="0"/>
          </a:p>
        </p:txBody>
      </p:sp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F08BB1AB-1630-1693-FFD1-F34638162D1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7</a:t>
            </a:fld>
            <a:endParaRPr/>
          </a:p>
        </p:txBody>
      </p:sp>
      <p:sp>
        <p:nvSpPr>
          <p:cNvPr id="108" name="Google Shape;108;p2">
            <a:extLst>
              <a:ext uri="{FF2B5EF4-FFF2-40B4-BE49-F238E27FC236}">
                <a16:creationId xmlns:a16="http://schemas.microsoft.com/office/drawing/2014/main" id="{1B791A3A-D65B-1106-921D-453C2E733F47}"/>
              </a:ext>
            </a:extLst>
          </p:cNvPr>
          <p:cNvSpPr txBox="1"/>
          <p:nvPr/>
        </p:nvSpPr>
        <p:spPr>
          <a:xfrm>
            <a:off x="3469066" y="5477158"/>
            <a:ext cx="5253867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r>
              <a:rPr lang="pt-BR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Tela Login do Sistema</a:t>
            </a:r>
            <a:endParaRPr lang="pt-BR" sz="3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A509C33-D25B-C6FF-774C-1A974FE5F8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0513" y="1495156"/>
            <a:ext cx="4470699" cy="386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661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AFCB8BC7-94EB-976F-B6C1-7753E2285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>
            <a:extLst>
              <a:ext uri="{FF2B5EF4-FFF2-40B4-BE49-F238E27FC236}">
                <a16:creationId xmlns:a16="http://schemas.microsoft.com/office/drawing/2014/main" id="{C36FDD05-B967-DB96-1FF8-CEF2524FB3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0794" y="136525"/>
            <a:ext cx="10730139" cy="990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4400"/>
              <a:buFont typeface="Calibri"/>
              <a:buNone/>
            </a:pPr>
            <a:r>
              <a:rPr lang="pt-BR" dirty="0"/>
              <a:t>Apresentação do Sistema</a:t>
            </a:r>
            <a:endParaRPr dirty="0"/>
          </a:p>
        </p:txBody>
      </p:sp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C97B0250-20F3-09B0-79D6-9AC7B7CDD0D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8</a:t>
            </a:fld>
            <a:endParaRPr/>
          </a:p>
        </p:txBody>
      </p:sp>
      <p:sp>
        <p:nvSpPr>
          <p:cNvPr id="108" name="Google Shape;108;p2">
            <a:extLst>
              <a:ext uri="{FF2B5EF4-FFF2-40B4-BE49-F238E27FC236}">
                <a16:creationId xmlns:a16="http://schemas.microsoft.com/office/drawing/2014/main" id="{07A6B176-F1FD-B53F-0DD0-E79D8E5D304D}"/>
              </a:ext>
            </a:extLst>
          </p:cNvPr>
          <p:cNvSpPr txBox="1"/>
          <p:nvPr/>
        </p:nvSpPr>
        <p:spPr>
          <a:xfrm>
            <a:off x="4530213" y="6215767"/>
            <a:ext cx="4198374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r>
              <a:rPr lang="pt-BR" sz="3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Tela Principal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6A42838-240B-1BF3-20A4-226910970E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996" y="1202967"/>
            <a:ext cx="9761733" cy="5083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4753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 txBox="1">
            <a:spLocks noGrp="1"/>
          </p:cNvSpPr>
          <p:nvPr>
            <p:ph type="title"/>
          </p:nvPr>
        </p:nvSpPr>
        <p:spPr>
          <a:xfrm>
            <a:off x="250794" y="136525"/>
            <a:ext cx="10730139" cy="990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4400"/>
              <a:buFont typeface="Calibri"/>
              <a:buNone/>
            </a:pPr>
            <a:r>
              <a:rPr lang="pt-BR" dirty="0"/>
              <a:t>Conclusão</a:t>
            </a:r>
            <a:endParaRPr dirty="0"/>
          </a:p>
        </p:txBody>
      </p:sp>
      <p:sp>
        <p:nvSpPr>
          <p:cNvPr id="116" name="Google Shape;11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9</a:t>
            </a:fld>
            <a:endParaRPr/>
          </a:p>
        </p:txBody>
      </p:sp>
      <p:sp>
        <p:nvSpPr>
          <p:cNvPr id="8" name="Google Shape;108;p2">
            <a:extLst>
              <a:ext uri="{FF2B5EF4-FFF2-40B4-BE49-F238E27FC236}">
                <a16:creationId xmlns:a16="http://schemas.microsoft.com/office/drawing/2014/main" id="{9290040D-DCB0-42D2-8D2E-EA50225ACBF1}"/>
              </a:ext>
            </a:extLst>
          </p:cNvPr>
          <p:cNvSpPr txBox="1"/>
          <p:nvPr/>
        </p:nvSpPr>
        <p:spPr>
          <a:xfrm>
            <a:off x="250793" y="1243510"/>
            <a:ext cx="11744561" cy="4401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desenvolvimento do sistema Estoque Bonsai permitiu aplicar na prática os conceitos da metodologia RAD, mostrando como é possível construir um software funcional em pouco tempo com foco na usabilidade e nos testes contínuos. 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pt-BR" sz="2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Durante o processo, foi possível entender melhor o uso de </a:t>
            </a:r>
            <a:r>
              <a:rPr lang="pt-BR" sz="28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Tkinter</a:t>
            </a:r>
            <a:r>
              <a:rPr lang="pt-BR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interfaces gráficas e a integração com o </a:t>
            </a:r>
            <a:r>
              <a:rPr lang="pt-BR" sz="28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SQLite</a:t>
            </a:r>
            <a:r>
              <a:rPr lang="pt-BR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como banco de dados.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pt-BR" sz="2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sistema atingiu os objetivos propostos, oferecendo uma forma simples e eficiente de controlar o estoque da loja Alquimia do Bonsai.</a:t>
            </a:r>
          </a:p>
        </p:txBody>
      </p:sp>
    </p:spTree>
    <p:extLst>
      <p:ext uri="{BB962C8B-B14F-4D97-AF65-F5344CB8AC3E}">
        <p14:creationId xmlns:p14="http://schemas.microsoft.com/office/powerpoint/2010/main" val="1163922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620</Words>
  <Application>Microsoft Office PowerPoint</Application>
  <PresentationFormat>Widescreen</PresentationFormat>
  <Paragraphs>54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2" baseType="lpstr">
      <vt:lpstr>Calibri</vt:lpstr>
      <vt:lpstr>Arial</vt:lpstr>
      <vt:lpstr>Tema do Office</vt:lpstr>
      <vt:lpstr>Estoque Bonsai</vt:lpstr>
      <vt:lpstr>Objetivo Geral</vt:lpstr>
      <vt:lpstr>Metodologia RAD</vt:lpstr>
      <vt:lpstr>Metodologia RAD</vt:lpstr>
      <vt:lpstr>Tecnologia Usadas no desenvolvimento</vt:lpstr>
      <vt:lpstr>Requisitos do Sistema</vt:lpstr>
      <vt:lpstr>Apresentação do Sistema</vt:lpstr>
      <vt:lpstr>Apresentação do Sistema</vt:lpstr>
      <vt:lpstr>Conclusão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&lt;Nome do Sistema&gt;</dc:title>
  <dc:creator>simone gama</dc:creator>
  <cp:lastModifiedBy>Luan Salles</cp:lastModifiedBy>
  <cp:revision>6</cp:revision>
  <dcterms:created xsi:type="dcterms:W3CDTF">2020-01-31T14:11:17Z</dcterms:created>
  <dcterms:modified xsi:type="dcterms:W3CDTF">2025-11-12T05:34:18Z</dcterms:modified>
</cp:coreProperties>
</file>